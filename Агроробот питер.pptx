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60" r:id="rId6"/>
    <p:sldId id="259" r:id="rId7"/>
    <p:sldId id="261" r:id="rId8"/>
    <p:sldId id="263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673"/>
    <a:srgbClr val="97A2E6"/>
    <a:srgbClr val="636F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8A154D-05CF-9CA5-CB34-8F966646E071}" v="665" dt="2026-05-03T05:16:56.285"/>
    <p1510:client id="{3098914A-7911-4A2B-0EB4-18E17B9CC06E}" v="67" dt="2026-05-02T20:12:28.05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Текст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73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Текст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83" name="Рисунок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Рисунок 3" descr="Рисунок 3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Заголовок 1"/>
          <p:cNvSpPr txBox="1">
            <a:spLocks noGrp="1"/>
          </p:cNvSpPr>
          <p:nvPr>
            <p:ph type="ctrTitle"/>
          </p:nvPr>
        </p:nvSpPr>
        <p:spPr>
          <a:xfrm>
            <a:off x="3086106" y="1912572"/>
            <a:ext cx="6008413" cy="1515858"/>
          </a:xfrm>
          <a:prstGeom prst="rect">
            <a:avLst/>
          </a:prstGeom>
        </p:spPr>
        <p:txBody>
          <a:bodyPr lIns="45719" tIns="45720" rIns="45719" bIns="45720" anchor="b">
            <a:normAutofit/>
          </a:bodyPr>
          <a:lstStyle>
            <a:lvl1pPr>
              <a:defRPr sz="96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/>
              <a:t>Агроробот</a:t>
            </a:r>
          </a:p>
        </p:txBody>
      </p:sp>
      <p:sp>
        <p:nvSpPr>
          <p:cNvPr id="96" name="TextBox 2"/>
          <p:cNvSpPr txBox="1"/>
          <p:nvPr/>
        </p:nvSpPr>
        <p:spPr>
          <a:xfrm>
            <a:off x="2429970" y="3429067"/>
            <a:ext cx="7334503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 algn="ctr">
              <a:defRPr sz="2800" b="1">
                <a:solidFill>
                  <a:srgbClr val="2C3673"/>
                </a:solidFill>
              </a:defRPr>
            </a:lvl1pPr>
          </a:lstStyle>
          <a:p>
            <a:r>
              <a:rPr err="1"/>
              <a:t>Роботизированная</a:t>
            </a:r>
            <a:r>
              <a:rPr dirty="0"/>
              <a:t> </a:t>
            </a:r>
            <a:r>
              <a:rPr err="1"/>
              <a:t>платформа</a:t>
            </a:r>
            <a:r>
              <a:rPr dirty="0"/>
              <a:t> </a:t>
            </a:r>
            <a:r>
              <a:rPr err="1"/>
              <a:t>для</a:t>
            </a:r>
            <a:r>
              <a:rPr dirty="0"/>
              <a:t> </a:t>
            </a:r>
            <a:r>
              <a:rPr lang="ru-RU" dirty="0"/>
              <a:t>автоматической прополки и </a:t>
            </a:r>
            <a:r>
              <a:rPr lang="ru-RU"/>
              <a:t>окучивания моркови</a:t>
            </a:r>
            <a:endParaRPr lang="ru-RU" dirty="0"/>
          </a:p>
        </p:txBody>
      </p:sp>
      <p:sp>
        <p:nvSpPr>
          <p:cNvPr id="97" name="Прямая со стрелкой 4"/>
          <p:cNvSpPr/>
          <p:nvPr/>
        </p:nvSpPr>
        <p:spPr>
          <a:xfrm>
            <a:off x="571248" y="6689290"/>
            <a:ext cx="4694120" cy="3959"/>
          </a:xfrm>
          <a:prstGeom prst="line">
            <a:avLst/>
          </a:prstGeom>
          <a:ln w="19050">
            <a:solidFill>
              <a:srgbClr val="2C367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extBox 6"/>
          <p:cNvSpPr txBox="1"/>
          <p:nvPr/>
        </p:nvSpPr>
        <p:spPr>
          <a:xfrm>
            <a:off x="5280095" y="6539065"/>
            <a:ext cx="163298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 algn="ctr">
              <a:defRPr sz="14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/>
              <a:t>ДЕТалька-2026</a:t>
            </a:r>
            <a:endParaRPr/>
          </a:p>
        </p:txBody>
      </p:sp>
      <p:sp>
        <p:nvSpPr>
          <p:cNvPr id="99" name="Прямая со стрелкой 8"/>
          <p:cNvSpPr/>
          <p:nvPr/>
        </p:nvSpPr>
        <p:spPr>
          <a:xfrm>
            <a:off x="6920706" y="6689289"/>
            <a:ext cx="4705494" cy="3961"/>
          </a:xfrm>
          <a:prstGeom prst="line">
            <a:avLst/>
          </a:prstGeom>
          <a:ln w="19050">
            <a:solidFill>
              <a:srgbClr val="2C367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Рисунок 2" descr="Рисунок 2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Заголовок 1"/>
          <p:cNvSpPr txBox="1"/>
          <p:nvPr/>
        </p:nvSpPr>
        <p:spPr>
          <a:xfrm>
            <a:off x="1893430" y="170203"/>
            <a:ext cx="8393112" cy="120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90000"/>
              </a:lnSpc>
              <a:defRPr sz="8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Актуальность</a:t>
            </a:r>
          </a:p>
        </p:txBody>
      </p:sp>
      <p:sp>
        <p:nvSpPr>
          <p:cNvPr id="103" name="TextBox 11"/>
          <p:cNvSpPr txBox="1"/>
          <p:nvPr/>
        </p:nvSpPr>
        <p:spPr>
          <a:xfrm>
            <a:off x="631562" y="3424192"/>
            <a:ext cx="4121906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rgbClr val="2C3673"/>
                </a:solidFill>
              </a:defRPr>
            </a:lvl1pPr>
          </a:lstStyle>
          <a:p>
            <a:r>
              <a:t>Наш проект</a:t>
            </a:r>
          </a:p>
        </p:txBody>
      </p:sp>
      <p:sp>
        <p:nvSpPr>
          <p:cNvPr id="104" name="TextBox 3"/>
          <p:cNvSpPr txBox="1"/>
          <p:nvPr/>
        </p:nvSpPr>
        <p:spPr>
          <a:xfrm>
            <a:off x="6256916" y="1359584"/>
            <a:ext cx="5197669" cy="1938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 algn="ctr">
              <a:defRPr sz="4000" b="1">
                <a:solidFill>
                  <a:srgbClr val="2C3673"/>
                </a:solidFill>
              </a:defRPr>
            </a:lvl1pPr>
          </a:lstStyle>
          <a:p>
            <a:r>
              <a:rPr lang="ru-RU" dirty="0"/>
              <a:t>Дефицит рабочей силы в сельской </a:t>
            </a:r>
            <a:r>
              <a:rPr lang="ru-RU"/>
              <a:t>местности</a:t>
            </a:r>
            <a:endParaRPr lang="ru-RU" dirty="0"/>
          </a:p>
        </p:txBody>
      </p:sp>
      <p:sp>
        <p:nvSpPr>
          <p:cNvPr id="105" name="TextBox 4"/>
          <p:cNvSpPr txBox="1"/>
          <p:nvPr/>
        </p:nvSpPr>
        <p:spPr>
          <a:xfrm>
            <a:off x="6256916" y="3491426"/>
            <a:ext cx="5197669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 algn="ctr">
              <a:defRPr sz="4000" b="1">
                <a:solidFill>
                  <a:srgbClr val="2C3673"/>
                </a:solidFill>
              </a:defRPr>
            </a:lvl1pPr>
          </a:lstStyle>
          <a:p>
            <a:r>
              <a:rPr lang="ru-RU"/>
              <a:t>Масштабирование производства</a:t>
            </a:r>
            <a:endParaRPr lang="ru-RU" dirty="0"/>
          </a:p>
        </p:txBody>
      </p:sp>
      <p:sp>
        <p:nvSpPr>
          <p:cNvPr id="106" name="TextBox 6"/>
          <p:cNvSpPr txBox="1"/>
          <p:nvPr/>
        </p:nvSpPr>
        <p:spPr>
          <a:xfrm>
            <a:off x="6256914" y="5026633"/>
            <a:ext cx="519767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 algn="ctr">
              <a:defRPr sz="4000" b="1">
                <a:solidFill>
                  <a:srgbClr val="2C3673"/>
                </a:solidFill>
              </a:defRPr>
            </a:lvl1pPr>
          </a:lstStyle>
          <a:p>
            <a:r>
              <a:rPr lang="ru-RU"/>
              <a:t>Экологичность</a:t>
            </a:r>
            <a:endParaRPr lang="ru-RU" dirty="0"/>
          </a:p>
        </p:txBody>
      </p:sp>
      <p:sp>
        <p:nvSpPr>
          <p:cNvPr id="107" name="Соединитель: уступ 7"/>
          <p:cNvSpPr/>
          <p:nvPr/>
        </p:nvSpPr>
        <p:spPr>
          <a:xfrm flipV="1">
            <a:off x="4452060" y="1992895"/>
            <a:ext cx="1881996" cy="1802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08" name="Соединитель: уступ 8"/>
          <p:cNvSpPr/>
          <p:nvPr/>
        </p:nvSpPr>
        <p:spPr>
          <a:xfrm>
            <a:off x="4463267" y="3996752"/>
            <a:ext cx="1870789" cy="1335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09" name="Прямая со стрелкой 9"/>
          <p:cNvSpPr/>
          <p:nvPr/>
        </p:nvSpPr>
        <p:spPr>
          <a:xfrm>
            <a:off x="4449494" y="3895050"/>
            <a:ext cx="1996541" cy="2802"/>
          </a:xfrm>
          <a:prstGeom prst="line">
            <a:avLst/>
          </a:pr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DE40-992A-F379-F140-D3470D49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Рисунок 2" descr="Рисунок 2">
            <a:extLst>
              <a:ext uri="{FF2B5EF4-FFF2-40B4-BE49-F238E27FC236}">
                <a16:creationId xmlns:a16="http://schemas.microsoft.com/office/drawing/2014/main" id="{FF893318-F89C-D9FB-3E69-A93C2DF421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Заголовок 1">
            <a:extLst>
              <a:ext uri="{FF2B5EF4-FFF2-40B4-BE49-F238E27FC236}">
                <a16:creationId xmlns:a16="http://schemas.microsoft.com/office/drawing/2014/main" id="{95F35D0D-E6EC-A8C8-AEFA-AB10247694C3}"/>
              </a:ext>
            </a:extLst>
          </p:cNvPr>
          <p:cNvSpPr txBox="1"/>
          <p:nvPr/>
        </p:nvSpPr>
        <p:spPr>
          <a:xfrm>
            <a:off x="1893430" y="170203"/>
            <a:ext cx="8393112" cy="120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ctr">
            <a:spAutoFit/>
          </a:bodyPr>
          <a:lstStyle>
            <a:lvl1pPr algn="ctr">
              <a:lnSpc>
                <a:spcPct val="90000"/>
              </a:lnSpc>
              <a:defRPr sz="8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/>
              <a:t>Передвижение</a:t>
            </a:r>
            <a:endParaRPr lang="ru-RU" dirty="0"/>
          </a:p>
        </p:txBody>
      </p:sp>
      <p:sp>
        <p:nvSpPr>
          <p:cNvPr id="103" name="TextBox 11">
            <a:extLst>
              <a:ext uri="{FF2B5EF4-FFF2-40B4-BE49-F238E27FC236}">
                <a16:creationId xmlns:a16="http://schemas.microsoft.com/office/drawing/2014/main" id="{529509A0-C248-E921-6B77-F4D050900281}"/>
              </a:ext>
            </a:extLst>
          </p:cNvPr>
          <p:cNvSpPr txBox="1"/>
          <p:nvPr/>
        </p:nvSpPr>
        <p:spPr>
          <a:xfrm>
            <a:off x="641859" y="1714841"/>
            <a:ext cx="10279688" cy="452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 algn="ctr">
              <a:defRPr sz="4800" b="1">
                <a:solidFill>
                  <a:srgbClr val="2C3673"/>
                </a:solidFill>
              </a:defRPr>
            </a:lvl1pPr>
          </a:lstStyle>
          <a:p>
            <a:pPr algn="l"/>
            <a:r>
              <a:rPr lang="ru-RU"/>
              <a:t>Плюсы "Шарохода":</a:t>
            </a:r>
          </a:p>
          <a:p>
            <a:pPr marL="914400" indent="-914400" algn="l">
              <a:buAutoNum type="arabicParenR"/>
            </a:pPr>
            <a:r>
              <a:rPr lang="ru-RU"/>
              <a:t>Легкость в использовании</a:t>
            </a:r>
            <a:endParaRPr lang="ru-RU" dirty="0"/>
          </a:p>
          <a:p>
            <a:pPr marL="914400" indent="-914400" algn="l">
              <a:buAutoNum type="arabicParenR"/>
            </a:pPr>
            <a:r>
              <a:rPr lang="ru-RU"/>
              <a:t>Высокая проходимость</a:t>
            </a:r>
          </a:p>
          <a:p>
            <a:pPr marL="914400" indent="-914400" algn="l">
              <a:buAutoNum type="arabicParenR"/>
            </a:pPr>
            <a:r>
              <a:rPr lang="ru-RU"/>
              <a:t>Экологичность</a:t>
            </a:r>
          </a:p>
          <a:p>
            <a:pPr marL="914400" indent="-914400" algn="l">
              <a:buAutoNum type="arabicParenR"/>
            </a:pPr>
            <a:r>
              <a:rPr lang="ru-RU"/>
              <a:t>Манёвренность</a:t>
            </a:r>
          </a:p>
          <a:p>
            <a:pPr marL="914400" indent="-914400" algn="l">
              <a:buAutoNum type="arabicParenR"/>
            </a:pPr>
            <a:r>
              <a:rPr lang="ru-RU"/>
              <a:t>Управляемость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72820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Рисунок 2" descr="Рисунок 2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Заголовок 1"/>
          <p:cNvSpPr txBox="1"/>
          <p:nvPr/>
        </p:nvSpPr>
        <p:spPr>
          <a:xfrm>
            <a:off x="1893430" y="170203"/>
            <a:ext cx="8393112" cy="120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90000"/>
              </a:lnSpc>
              <a:defRPr sz="8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О продукте</a:t>
            </a:r>
          </a:p>
        </p:txBody>
      </p:sp>
      <p:sp>
        <p:nvSpPr>
          <p:cNvPr id="113" name="TextBox 4"/>
          <p:cNvSpPr txBox="1"/>
          <p:nvPr/>
        </p:nvSpPr>
        <p:spPr>
          <a:xfrm>
            <a:off x="2178210" y="2483756"/>
            <a:ext cx="1735699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 b="1">
                <a:solidFill>
                  <a:srgbClr val="2C3673"/>
                </a:solidFill>
              </a:defRPr>
            </a:lvl1pPr>
          </a:lstStyle>
          <a:p>
            <a:r>
              <a:t>Начало</a:t>
            </a:r>
          </a:p>
        </p:txBody>
      </p:sp>
      <p:sp>
        <p:nvSpPr>
          <p:cNvPr id="114" name="TextBox 6"/>
          <p:cNvSpPr txBox="1"/>
          <p:nvPr/>
        </p:nvSpPr>
        <p:spPr>
          <a:xfrm>
            <a:off x="4861588" y="3323863"/>
            <a:ext cx="2453784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 b="1">
                <a:solidFill>
                  <a:srgbClr val="2C3673"/>
                </a:solidFill>
              </a:defRPr>
            </a:lvl1pPr>
          </a:lstStyle>
          <a:p>
            <a:r>
              <a:t>Движение</a:t>
            </a:r>
          </a:p>
        </p:txBody>
      </p:sp>
      <p:sp>
        <p:nvSpPr>
          <p:cNvPr id="115" name="TextBox 9"/>
          <p:cNvSpPr txBox="1"/>
          <p:nvPr/>
        </p:nvSpPr>
        <p:spPr>
          <a:xfrm>
            <a:off x="8133364" y="2152549"/>
            <a:ext cx="2666789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defRPr sz="3600" b="1">
                <a:solidFill>
                  <a:srgbClr val="2C3673"/>
                </a:solidFill>
              </a:defRPr>
            </a:lvl1pPr>
          </a:lstStyle>
          <a:p>
            <a:r>
              <a:rPr lang="ru-RU"/>
              <a:t>Прополка\окучивание</a:t>
            </a:r>
            <a:endParaRPr lang="ru-RU" dirty="0"/>
          </a:p>
        </p:txBody>
      </p:sp>
      <p:sp>
        <p:nvSpPr>
          <p:cNvPr id="116" name="TextBox 10"/>
          <p:cNvSpPr txBox="1"/>
          <p:nvPr/>
        </p:nvSpPr>
        <p:spPr>
          <a:xfrm>
            <a:off x="8306428" y="4268213"/>
            <a:ext cx="172906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defRPr sz="3600" b="1">
                <a:solidFill>
                  <a:srgbClr val="2C3673"/>
                </a:solidFill>
              </a:defRPr>
            </a:lvl1pPr>
          </a:lstStyle>
          <a:p>
            <a:r>
              <a:rPr lang="ru-RU"/>
              <a:t>QR-код</a:t>
            </a:r>
            <a:endParaRPr lang="ru-RU" dirty="0"/>
          </a:p>
        </p:txBody>
      </p:sp>
      <p:sp>
        <p:nvSpPr>
          <p:cNvPr id="117" name="TextBox 11"/>
          <p:cNvSpPr txBox="1"/>
          <p:nvPr/>
        </p:nvSpPr>
        <p:spPr>
          <a:xfrm>
            <a:off x="2316188" y="4257916"/>
            <a:ext cx="1609358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 b="1">
                <a:solidFill>
                  <a:srgbClr val="2C3673"/>
                </a:solidFill>
              </a:defRPr>
            </a:lvl1pPr>
          </a:lstStyle>
          <a:p>
            <a:r>
              <a:t>Конец</a:t>
            </a:r>
          </a:p>
        </p:txBody>
      </p:sp>
      <p:sp>
        <p:nvSpPr>
          <p:cNvPr id="118" name="Прямая со стрелкой 9"/>
          <p:cNvSpPr/>
          <p:nvPr/>
        </p:nvSpPr>
        <p:spPr>
          <a:xfrm>
            <a:off x="3871346" y="2846558"/>
            <a:ext cx="1048608" cy="673834"/>
          </a:xfrm>
          <a:prstGeom prst="line">
            <a:avLst/>
          </a:pr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Прямая со стрелкой 11"/>
          <p:cNvSpPr/>
          <p:nvPr/>
        </p:nvSpPr>
        <p:spPr>
          <a:xfrm flipV="1">
            <a:off x="7168288" y="2796044"/>
            <a:ext cx="939859" cy="734978"/>
          </a:xfrm>
          <a:prstGeom prst="line">
            <a:avLst/>
          </a:pr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Прямая со стрелкой 30"/>
          <p:cNvSpPr/>
          <p:nvPr/>
        </p:nvSpPr>
        <p:spPr>
          <a:xfrm>
            <a:off x="8356896" y="3201155"/>
            <a:ext cx="109051" cy="1060871"/>
          </a:xfrm>
          <a:prstGeom prst="line">
            <a:avLst/>
          </a:pr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Прямая со стрелкой 31"/>
          <p:cNvSpPr/>
          <p:nvPr/>
        </p:nvSpPr>
        <p:spPr>
          <a:xfrm flipH="1">
            <a:off x="3795281" y="3831313"/>
            <a:ext cx="1074360" cy="713072"/>
          </a:xfrm>
          <a:prstGeom prst="line">
            <a:avLst/>
          </a:pr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Прямая со стрелкой 32"/>
          <p:cNvSpPr/>
          <p:nvPr/>
        </p:nvSpPr>
        <p:spPr>
          <a:xfrm flipH="1" flipV="1">
            <a:off x="7193150" y="3757320"/>
            <a:ext cx="1125107" cy="569307"/>
          </a:xfrm>
          <a:prstGeom prst="line">
            <a:avLst/>
          </a:prstGeom>
          <a:ln w="19050">
            <a:solidFill>
              <a:srgbClr val="2C3673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Рисунок 9" descr="Рисунок 9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A950D0F-6DB4-CE63-8CF2-B00F25175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348504"/>
              </p:ext>
            </p:extLst>
          </p:nvPr>
        </p:nvGraphicFramePr>
        <p:xfrm>
          <a:off x="473675" y="298621"/>
          <a:ext cx="11297332" cy="6153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2890">
                  <a:extLst>
                    <a:ext uri="{9D8B030D-6E8A-4147-A177-3AD203B41FA5}">
                      <a16:colId xmlns:a16="http://schemas.microsoft.com/office/drawing/2014/main" val="2846669520"/>
                    </a:ext>
                  </a:extLst>
                </a:gridCol>
                <a:gridCol w="2818883">
                  <a:extLst>
                    <a:ext uri="{9D8B030D-6E8A-4147-A177-3AD203B41FA5}">
                      <a16:colId xmlns:a16="http://schemas.microsoft.com/office/drawing/2014/main" val="2982663402"/>
                    </a:ext>
                  </a:extLst>
                </a:gridCol>
                <a:gridCol w="3205033">
                  <a:extLst>
                    <a:ext uri="{9D8B030D-6E8A-4147-A177-3AD203B41FA5}">
                      <a16:colId xmlns:a16="http://schemas.microsoft.com/office/drawing/2014/main" val="2642224940"/>
                    </a:ext>
                  </a:extLst>
                </a:gridCol>
                <a:gridCol w="3390526">
                  <a:extLst>
                    <a:ext uri="{9D8B030D-6E8A-4147-A177-3AD203B41FA5}">
                      <a16:colId xmlns:a16="http://schemas.microsoft.com/office/drawing/2014/main" val="3215517045"/>
                    </a:ext>
                  </a:extLst>
                </a:gridCol>
              </a:tblGrid>
              <a:tr h="1025587">
                <a:tc gridSpan="4">
                  <a:txBody>
                    <a:bodyPr/>
                    <a:lstStyle/>
                    <a:p>
                      <a:pPr algn="ctr"/>
                      <a:r>
                        <a:rPr lang="ru-RU" sz="60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Анализ конкурентов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97523178"/>
                  </a:ext>
                </a:extLst>
              </a:tr>
              <a:tr h="1025587">
                <a:tc>
                  <a:txBody>
                    <a:bodyPr/>
                    <a:lstStyle/>
                    <a:p>
                      <a:pPr algn="ctr"/>
                      <a:endParaRPr lang="ru-RU" sz="280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Коботы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MiraBot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Solinftec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583038"/>
                  </a:ext>
                </a:extLst>
              </a:tr>
              <a:tr h="102558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8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Время работы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 lang="ru-RU" sz="5400" b="1" dirty="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04925"/>
                  </a:ext>
                </a:extLst>
              </a:tr>
              <a:tr h="1025587"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Скорость</a:t>
                      </a:r>
                      <a:endParaRPr lang="ru-RU" sz="2800" dirty="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lang="ru-RU" sz="5400" b="1" dirty="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838113"/>
                  </a:ext>
                </a:extLst>
              </a:tr>
              <a:tr h="1025587">
                <a:tc>
                  <a:txBody>
                    <a:bodyPr/>
                    <a:lstStyle/>
                    <a:p>
                      <a:pPr algn="ctr"/>
                      <a:r>
                        <a:rPr lang="ru-RU" sz="28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Проходимость</a:t>
                      </a:r>
                      <a:endParaRPr lang="ru-RU" sz="2800" dirty="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lang="ru-RU" sz="5400" b="1" dirty="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113099"/>
                  </a:ext>
                </a:extLst>
              </a:tr>
              <a:tr h="1025587">
                <a:tc>
                  <a:txBody>
                    <a:bodyPr/>
                    <a:lstStyle/>
                    <a:p>
                      <a:pPr algn="ctr"/>
                      <a:r>
                        <a:rPr lang="ru-RU" sz="2000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Работа при плохой погоде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lang="ru-RU" sz="5400" b="1" dirty="0">
                        <a:solidFill>
                          <a:srgbClr val="2C367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5400" b="1">
                          <a:solidFill>
                            <a:srgbClr val="2C3673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051415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0178DC-A662-C72A-0F6E-9631F2A314CC}"/>
              </a:ext>
            </a:extLst>
          </p:cNvPr>
          <p:cNvSpPr/>
          <p:nvPr/>
        </p:nvSpPr>
        <p:spPr>
          <a:xfrm>
            <a:off x="469557" y="304800"/>
            <a:ext cx="11263182" cy="6166019"/>
          </a:xfrm>
          <a:prstGeom prst="rect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ptos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A94DD940-192B-9D87-F294-1E0C7F730080}"/>
              </a:ext>
            </a:extLst>
          </p:cNvPr>
          <p:cNvCxnSpPr/>
          <p:nvPr/>
        </p:nvCxnSpPr>
        <p:spPr>
          <a:xfrm flipV="1">
            <a:off x="479855" y="1301579"/>
            <a:ext cx="11242586" cy="22653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4044FDA3-D588-7DC5-1131-ACA6285C6AE6}"/>
              </a:ext>
            </a:extLst>
          </p:cNvPr>
          <p:cNvCxnSpPr>
            <a:cxnSpLocks/>
          </p:cNvCxnSpPr>
          <p:nvPr/>
        </p:nvCxnSpPr>
        <p:spPr>
          <a:xfrm flipV="1">
            <a:off x="459260" y="2321011"/>
            <a:ext cx="11242586" cy="22653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B7A1311-1B96-F209-3B9D-720D893AA4A7}"/>
              </a:ext>
            </a:extLst>
          </p:cNvPr>
          <p:cNvCxnSpPr>
            <a:cxnSpLocks/>
          </p:cNvCxnSpPr>
          <p:nvPr/>
        </p:nvCxnSpPr>
        <p:spPr>
          <a:xfrm flipV="1">
            <a:off x="459260" y="3350741"/>
            <a:ext cx="11242586" cy="22653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A013F00A-38B5-0985-1B79-AF942FBE30F4}"/>
              </a:ext>
            </a:extLst>
          </p:cNvPr>
          <p:cNvCxnSpPr>
            <a:cxnSpLocks/>
          </p:cNvCxnSpPr>
          <p:nvPr/>
        </p:nvCxnSpPr>
        <p:spPr>
          <a:xfrm flipV="1">
            <a:off x="479854" y="4359876"/>
            <a:ext cx="11242586" cy="22653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6B621E8-FB58-2EAB-56C8-2368F5E1B1B2}"/>
              </a:ext>
            </a:extLst>
          </p:cNvPr>
          <p:cNvCxnSpPr>
            <a:cxnSpLocks/>
          </p:cNvCxnSpPr>
          <p:nvPr/>
        </p:nvCxnSpPr>
        <p:spPr>
          <a:xfrm flipV="1">
            <a:off x="459260" y="5389605"/>
            <a:ext cx="11242586" cy="22653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2C35508-A2B3-7571-C96E-9622034E63B2}"/>
              </a:ext>
            </a:extLst>
          </p:cNvPr>
          <p:cNvCxnSpPr>
            <a:cxnSpLocks/>
          </p:cNvCxnSpPr>
          <p:nvPr/>
        </p:nvCxnSpPr>
        <p:spPr>
          <a:xfrm flipH="1" flipV="1">
            <a:off x="2331306" y="1322173"/>
            <a:ext cx="12358" cy="5130112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9EC0E3D-0D9D-C802-3FFF-D699CE9C1733}"/>
              </a:ext>
            </a:extLst>
          </p:cNvPr>
          <p:cNvCxnSpPr>
            <a:cxnSpLocks/>
          </p:cNvCxnSpPr>
          <p:nvPr/>
        </p:nvCxnSpPr>
        <p:spPr>
          <a:xfrm flipH="1" flipV="1">
            <a:off x="8334630" y="1322172"/>
            <a:ext cx="22655" cy="5130111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B2485E-282B-2D58-DE78-56E220C48D0B}"/>
              </a:ext>
            </a:extLst>
          </p:cNvPr>
          <p:cNvCxnSpPr/>
          <p:nvPr/>
        </p:nvCxnSpPr>
        <p:spPr>
          <a:xfrm>
            <a:off x="490152" y="1375718"/>
            <a:ext cx="1892641" cy="986480"/>
          </a:xfrm>
          <a:prstGeom prst="straightConnector1">
            <a:avLst/>
          </a:prstGeom>
          <a:noFill/>
          <a:ln w="190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BF6590F-F32F-EAF6-9864-94B58C172451}"/>
              </a:ext>
            </a:extLst>
          </p:cNvPr>
          <p:cNvSpPr txBox="1"/>
          <p:nvPr/>
        </p:nvSpPr>
        <p:spPr>
          <a:xfrm>
            <a:off x="826463" y="1382192"/>
            <a:ext cx="168582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600">
                <a:solidFill>
                  <a:srgbClr val="2C3673"/>
                </a:solidFill>
                <a:latin typeface="Times New Roman"/>
                <a:cs typeface="Times New Roman"/>
              </a:rPr>
              <a:t>Конкуренты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5AF28A-C76B-F4A7-9B3D-6DF904F004EE}"/>
              </a:ext>
            </a:extLst>
          </p:cNvPr>
          <p:cNvSpPr txBox="1"/>
          <p:nvPr/>
        </p:nvSpPr>
        <p:spPr>
          <a:xfrm>
            <a:off x="280706" y="1927949"/>
            <a:ext cx="168582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600">
                <a:solidFill>
                  <a:srgbClr val="2C3673"/>
                </a:solidFill>
                <a:latin typeface="Times New Roman"/>
                <a:cs typeface="Times New Roman"/>
              </a:rPr>
              <a:t>Характерист.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F7832B0F-6712-F043-05E7-77EEE96D1AB7}"/>
              </a:ext>
            </a:extLst>
          </p:cNvPr>
          <p:cNvCxnSpPr>
            <a:cxnSpLocks/>
          </p:cNvCxnSpPr>
          <p:nvPr/>
        </p:nvCxnSpPr>
        <p:spPr>
          <a:xfrm flipH="1" flipV="1">
            <a:off x="5183657" y="1322172"/>
            <a:ext cx="22655" cy="5130111"/>
          </a:xfrm>
          <a:prstGeom prst="straightConnector1">
            <a:avLst/>
          </a:prstGeom>
          <a:noFill/>
          <a:ln w="57150" cap="flat">
            <a:solidFill>
              <a:srgbClr val="2C367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Рисунок 18" descr="Рисунок 18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Заголовок 1"/>
          <p:cNvSpPr txBox="1">
            <a:spLocks noGrp="1"/>
          </p:cNvSpPr>
          <p:nvPr>
            <p:ph type="title"/>
          </p:nvPr>
        </p:nvSpPr>
        <p:spPr>
          <a:xfrm>
            <a:off x="1816604" y="346350"/>
            <a:ext cx="8536380" cy="969305"/>
          </a:xfrm>
          <a:prstGeom prst="rect">
            <a:avLst/>
          </a:prstGeom>
          <a:ln w="9525">
            <a:noFill/>
            <a:round/>
          </a:ln>
        </p:spPr>
        <p:txBody>
          <a:bodyPr/>
          <a:lstStyle>
            <a:lvl1pPr algn="ctr" defTabSz="758951">
              <a:defRPr sz="5976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Стоимость робота</a:t>
            </a:r>
          </a:p>
        </p:txBody>
      </p:sp>
      <p:sp>
        <p:nvSpPr>
          <p:cNvPr id="126" name="Овал 3"/>
          <p:cNvSpPr/>
          <p:nvPr/>
        </p:nvSpPr>
        <p:spPr>
          <a:xfrm>
            <a:off x="4315109" y="2315934"/>
            <a:ext cx="3600609" cy="3489081"/>
          </a:xfrm>
          <a:prstGeom prst="ellipse">
            <a:avLst/>
          </a:pr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7" name="TextBox 4"/>
          <p:cNvSpPr txBox="1"/>
          <p:nvPr/>
        </p:nvSpPr>
        <p:spPr>
          <a:xfrm>
            <a:off x="4807441" y="3381651"/>
            <a:ext cx="2620805" cy="1365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48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300.000</a:t>
            </a:r>
          </a:p>
          <a:p>
            <a:pPr algn="ctr">
              <a:defRPr sz="4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рублей</a:t>
            </a:r>
          </a:p>
        </p:txBody>
      </p:sp>
      <p:sp>
        <p:nvSpPr>
          <p:cNvPr id="128" name="Овал 5"/>
          <p:cNvSpPr/>
          <p:nvPr/>
        </p:nvSpPr>
        <p:spPr>
          <a:xfrm>
            <a:off x="9322537" y="1850815"/>
            <a:ext cx="2066713" cy="1915601"/>
          </a:xfrm>
          <a:prstGeom prst="ellipse">
            <a:avLst/>
          </a:pr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9" name="Рисунок 6" descr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677" y="2368568"/>
            <a:ext cx="1620984" cy="873953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Овал 7"/>
          <p:cNvSpPr/>
          <p:nvPr/>
        </p:nvSpPr>
        <p:spPr>
          <a:xfrm>
            <a:off x="9322537" y="4423802"/>
            <a:ext cx="2066713" cy="1915601"/>
          </a:xfrm>
          <a:prstGeom prst="ellipse">
            <a:avLst/>
          </a:pr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" name="Овал 8"/>
          <p:cNvSpPr/>
          <p:nvPr/>
        </p:nvSpPr>
        <p:spPr>
          <a:xfrm>
            <a:off x="792095" y="1850814"/>
            <a:ext cx="2066713" cy="1915601"/>
          </a:xfrm>
          <a:prstGeom prst="ellipse">
            <a:avLst/>
          </a:pr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2" name="Овал 9"/>
          <p:cNvSpPr/>
          <p:nvPr/>
        </p:nvSpPr>
        <p:spPr>
          <a:xfrm>
            <a:off x="792095" y="4423802"/>
            <a:ext cx="2066714" cy="1915601"/>
          </a:xfrm>
          <a:prstGeom prst="ellipse">
            <a:avLst/>
          </a:pr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3" name="Рисунок 10" descr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427" y="4804559"/>
            <a:ext cx="1622963" cy="11083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Рисунок 11" descr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243" y="4675909"/>
            <a:ext cx="1305175" cy="1375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Рисунок 12" descr="Рисунок 12"/>
          <p:cNvPicPr>
            <a:picLocks noChangeAspect="1"/>
          </p:cNvPicPr>
          <p:nvPr/>
        </p:nvPicPr>
        <p:blipFill>
          <a:blip r:embed="rId6"/>
          <a:srcRect l="9129" t="22440" r="10977" b="7529"/>
          <a:stretch>
            <a:fillRect/>
          </a:stretch>
        </p:blipFill>
        <p:spPr>
          <a:xfrm>
            <a:off x="1120082" y="2250630"/>
            <a:ext cx="1404751" cy="1118643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Соединитель: уступ 13"/>
          <p:cNvSpPr/>
          <p:nvPr/>
        </p:nvSpPr>
        <p:spPr>
          <a:xfrm>
            <a:off x="2864407" y="2791479"/>
            <a:ext cx="1448790" cy="1320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7" name="Соединитель: уступ 14"/>
          <p:cNvSpPr/>
          <p:nvPr/>
        </p:nvSpPr>
        <p:spPr>
          <a:xfrm flipV="1">
            <a:off x="2864407" y="4101724"/>
            <a:ext cx="1448790" cy="1272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8" name="Соединитель: уступ 15"/>
          <p:cNvSpPr/>
          <p:nvPr/>
        </p:nvSpPr>
        <p:spPr>
          <a:xfrm flipH="1">
            <a:off x="7905483" y="2801374"/>
            <a:ext cx="1421082" cy="13201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9" name="Соединитель: уступ 16"/>
          <p:cNvSpPr/>
          <p:nvPr/>
        </p:nvSpPr>
        <p:spPr>
          <a:xfrm flipH="1" flipV="1">
            <a:off x="7895586" y="4101724"/>
            <a:ext cx="1450772" cy="12627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28575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Рисунок 2" descr="Рисунок 2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Заголовок 1"/>
          <p:cNvSpPr txBox="1"/>
          <p:nvPr/>
        </p:nvSpPr>
        <p:spPr>
          <a:xfrm>
            <a:off x="1350456" y="-22917"/>
            <a:ext cx="9501474" cy="120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90000"/>
              </a:lnSpc>
              <a:defRPr sz="8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Стратегия развития</a:t>
            </a:r>
          </a:p>
        </p:txBody>
      </p:sp>
      <p:sp>
        <p:nvSpPr>
          <p:cNvPr id="150" name="Соединитель: уступ 5"/>
          <p:cNvSpPr/>
          <p:nvPr/>
        </p:nvSpPr>
        <p:spPr>
          <a:xfrm flipH="1">
            <a:off x="1202612" y="4810257"/>
            <a:ext cx="3660661" cy="9218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1" name="TextBox 9"/>
          <p:cNvSpPr txBox="1"/>
          <p:nvPr/>
        </p:nvSpPr>
        <p:spPr>
          <a:xfrm>
            <a:off x="1215973" y="5730899"/>
            <a:ext cx="1773322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/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Июнь</a:t>
            </a:r>
            <a:r>
              <a:rPr dirty="0"/>
              <a:t> 2024</a:t>
            </a:r>
            <a:br>
              <a:rPr dirty="0"/>
            </a:br>
            <a:r>
              <a:rPr b="0" dirty="0"/>
              <a:t>-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Октябрь</a:t>
            </a:r>
            <a:r>
              <a:rPr dirty="0"/>
              <a:t> 2024</a:t>
            </a:r>
          </a:p>
        </p:txBody>
      </p:sp>
      <p:sp>
        <p:nvSpPr>
          <p:cNvPr id="152" name="TextBox 10"/>
          <p:cNvSpPr txBox="1"/>
          <p:nvPr/>
        </p:nvSpPr>
        <p:spPr>
          <a:xfrm>
            <a:off x="3081167" y="4809673"/>
            <a:ext cx="1773322" cy="8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Сентябрь 2024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Октябрь 2025</a:t>
            </a:r>
          </a:p>
        </p:txBody>
      </p:sp>
      <p:sp>
        <p:nvSpPr>
          <p:cNvPr id="153" name="Соединитель: уступ 12"/>
          <p:cNvSpPr/>
          <p:nvPr/>
        </p:nvSpPr>
        <p:spPr>
          <a:xfrm flipH="1">
            <a:off x="3045060" y="3889033"/>
            <a:ext cx="3672033" cy="9218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4" name="TextBox 13"/>
          <p:cNvSpPr txBox="1"/>
          <p:nvPr/>
        </p:nvSpPr>
        <p:spPr>
          <a:xfrm>
            <a:off x="4912241" y="3888449"/>
            <a:ext cx="1773322" cy="8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Октябрь 2025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Июль 2026</a:t>
            </a:r>
          </a:p>
        </p:txBody>
      </p:sp>
      <p:sp>
        <p:nvSpPr>
          <p:cNvPr id="155" name="Соединитель: уступ 14"/>
          <p:cNvSpPr/>
          <p:nvPr/>
        </p:nvSpPr>
        <p:spPr>
          <a:xfrm flipH="1">
            <a:off x="4910251" y="2967807"/>
            <a:ext cx="3649288" cy="921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6" name="TextBox 15"/>
          <p:cNvSpPr txBox="1"/>
          <p:nvPr/>
        </p:nvSpPr>
        <p:spPr>
          <a:xfrm>
            <a:off x="6743313" y="2967223"/>
            <a:ext cx="1773322" cy="8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Июль 2026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Июль 2027</a:t>
            </a:r>
          </a:p>
        </p:txBody>
      </p:sp>
      <p:sp>
        <p:nvSpPr>
          <p:cNvPr id="157" name="Соединитель: уступ 16"/>
          <p:cNvSpPr/>
          <p:nvPr/>
        </p:nvSpPr>
        <p:spPr>
          <a:xfrm flipH="1">
            <a:off x="6798191" y="2057955"/>
            <a:ext cx="3717527" cy="910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C3673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8" name="TextBox 17"/>
          <p:cNvSpPr txBox="1"/>
          <p:nvPr/>
        </p:nvSpPr>
        <p:spPr>
          <a:xfrm>
            <a:off x="8699491" y="2045998"/>
            <a:ext cx="1773322" cy="8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Июль 2027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-</a:t>
            </a:r>
          </a:p>
          <a:p>
            <a:pPr algn="ctr">
              <a:defRPr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Декабрь 2027</a:t>
            </a:r>
          </a:p>
        </p:txBody>
      </p:sp>
      <p:sp>
        <p:nvSpPr>
          <p:cNvPr id="159" name="TextBox 19"/>
          <p:cNvSpPr txBox="1"/>
          <p:nvPr/>
        </p:nvSpPr>
        <p:spPr>
          <a:xfrm>
            <a:off x="8699490" y="1215759"/>
            <a:ext cx="1773323" cy="715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4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Серийное </a:t>
            </a:r>
            <a:r>
              <a:rPr sz="2000"/>
              <a:t>производство</a:t>
            </a:r>
          </a:p>
        </p:txBody>
      </p:sp>
      <p:sp>
        <p:nvSpPr>
          <p:cNvPr id="160" name="TextBox 20"/>
          <p:cNvSpPr txBox="1"/>
          <p:nvPr/>
        </p:nvSpPr>
        <p:spPr>
          <a:xfrm>
            <a:off x="6743310" y="2284833"/>
            <a:ext cx="1887053" cy="421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Продажи</a:t>
            </a:r>
          </a:p>
        </p:txBody>
      </p:sp>
      <p:sp>
        <p:nvSpPr>
          <p:cNvPr id="161" name="TextBox 21"/>
          <p:cNvSpPr txBox="1"/>
          <p:nvPr/>
        </p:nvSpPr>
        <p:spPr>
          <a:xfrm>
            <a:off x="4889489" y="2978594"/>
            <a:ext cx="1761949" cy="764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Предсерийная</a:t>
            </a:r>
            <a:r>
              <a:rPr sz="2400"/>
              <a:t> модель</a:t>
            </a:r>
          </a:p>
        </p:txBody>
      </p:sp>
      <p:sp>
        <p:nvSpPr>
          <p:cNvPr id="162" name="TextBox 23"/>
          <p:cNvSpPr txBox="1"/>
          <p:nvPr/>
        </p:nvSpPr>
        <p:spPr>
          <a:xfrm>
            <a:off x="1500293" y="4889282"/>
            <a:ext cx="1216040" cy="764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Идея проекта</a:t>
            </a:r>
          </a:p>
        </p:txBody>
      </p:sp>
      <p:sp>
        <p:nvSpPr>
          <p:cNvPr id="163" name="TextBox 6"/>
          <p:cNvSpPr txBox="1"/>
          <p:nvPr/>
        </p:nvSpPr>
        <p:spPr>
          <a:xfrm>
            <a:off x="3029313" y="3886270"/>
            <a:ext cx="1761949" cy="764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Первые прототипы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Рисунок 2" descr="Рисунок 2"/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693617" y="-444413"/>
            <a:ext cx="6783888" cy="7736387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Заголовок 1"/>
          <p:cNvSpPr txBox="1"/>
          <p:nvPr/>
        </p:nvSpPr>
        <p:spPr>
          <a:xfrm>
            <a:off x="1083333" y="1984394"/>
            <a:ext cx="10033752" cy="1203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90000"/>
              </a:lnSpc>
              <a:defRPr sz="80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Спасибо за внимание</a:t>
            </a:r>
          </a:p>
        </p:txBody>
      </p:sp>
      <p:pic>
        <p:nvPicPr>
          <p:cNvPr id="169" name="Рисунок 15" descr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112" y="3708255"/>
            <a:ext cx="1247776" cy="1381126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Прямая со стрелкой 4"/>
          <p:cNvSpPr/>
          <p:nvPr/>
        </p:nvSpPr>
        <p:spPr>
          <a:xfrm>
            <a:off x="571248" y="6689290"/>
            <a:ext cx="4694120" cy="3959"/>
          </a:xfrm>
          <a:prstGeom prst="line">
            <a:avLst/>
          </a:prstGeom>
          <a:ln w="19050">
            <a:solidFill>
              <a:srgbClr val="2C367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" name="TextBox 7"/>
          <p:cNvSpPr txBox="1"/>
          <p:nvPr/>
        </p:nvSpPr>
        <p:spPr>
          <a:xfrm>
            <a:off x="5280095" y="6539065"/>
            <a:ext cx="163298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 algn="ctr">
              <a:defRPr sz="1400" b="1">
                <a:solidFill>
                  <a:srgbClr val="2C367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/>
              <a:t>ДЕТалька-2026</a:t>
            </a:r>
            <a:endParaRPr/>
          </a:p>
        </p:txBody>
      </p:sp>
      <p:sp>
        <p:nvSpPr>
          <p:cNvPr id="172" name="Прямая со стрелкой 11"/>
          <p:cNvSpPr/>
          <p:nvPr/>
        </p:nvSpPr>
        <p:spPr>
          <a:xfrm>
            <a:off x="6920706" y="6689289"/>
            <a:ext cx="4705494" cy="3961"/>
          </a:xfrm>
          <a:prstGeom prst="line">
            <a:avLst/>
          </a:prstGeom>
          <a:ln w="19050">
            <a:solidFill>
              <a:srgbClr val="2C367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Тема Offic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Тема Offic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8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Агроробот</vt:lpstr>
      <vt:lpstr>Презентация PowerPoint</vt:lpstr>
      <vt:lpstr>Презентация PowerPoint</vt:lpstr>
      <vt:lpstr>Презентация PowerPoint</vt:lpstr>
      <vt:lpstr>Презентация PowerPoint</vt:lpstr>
      <vt:lpstr>Стоимость робота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86</cp:revision>
  <dcterms:modified xsi:type="dcterms:W3CDTF">2026-05-03T06:54:22Z</dcterms:modified>
</cp:coreProperties>
</file>